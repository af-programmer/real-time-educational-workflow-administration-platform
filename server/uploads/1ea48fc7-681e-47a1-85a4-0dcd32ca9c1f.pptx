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66" r:id="rId4"/>
    <p:sldId id="260" r:id="rId5"/>
    <p:sldId id="261" r:id="rId6"/>
    <p:sldId id="267" r:id="rId7"/>
    <p:sldId id="269" r:id="rId8"/>
    <p:sldId id="270" r:id="rId9"/>
    <p:sldId id="262" r:id="rId10"/>
    <p:sldId id="263" r:id="rId11"/>
    <p:sldId id="273" r:id="rId12"/>
    <p:sldId id="274" r:id="rId13"/>
    <p:sldId id="275" r:id="rId14"/>
    <p:sldId id="277" r:id="rId15"/>
    <p:sldId id="276" r:id="rId16"/>
    <p:sldId id="284" r:id="rId17"/>
    <p:sldId id="278" r:id="rId1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‏‏משתמש Windows" initials="‏W" lastIdx="1" clrIdx="0">
    <p:extLst>
      <p:ext uri="{19B8F6BF-5375-455C-9EA6-DF929625EA0E}">
        <p15:presenceInfo xmlns:p15="http://schemas.microsoft.com/office/powerpoint/2012/main" userId="db3817c1e5961c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86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72DAF73E-4086-4FF6-BAF0-C71345369560}" type="datetimeFigureOut">
              <a:rPr lang="en-IL" smtClean="0"/>
              <a:t>05/08/2024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72BFBF8A-4244-4535-A2F1-1534FE7C3E8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30470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816DBF-C477-5F83-5D66-5F602BB38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D8E577B-6B8F-BE94-113C-407FE4B73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2005A5D-1EE2-C375-EF27-CE79FB6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ACA57EF-7AA3-9C94-187B-16F89A92F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237C94C-8B6A-A808-3271-F73077A5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183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704EC1-2C1D-687D-F6A1-713045BB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E76F7A5-A398-AB35-41BB-5B10802D3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8A612CF-EA9C-23FE-8BB8-F768853F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251483A-D066-CCB4-FCFF-3943C210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820EE23-AC84-75ED-E96E-B8E48ABC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156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336851-AF95-6649-9291-BDD86C9E6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EE09EA3-5206-571B-06B3-C86419192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8B40DA1-AEC0-A3BE-EE59-12C7B867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794FDF0-F69B-7ABA-EADC-67FBA80E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5DD17F3-352E-0D27-FEAC-BDDA5AE7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053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871D47-4C78-967B-90B3-59D120E4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6A2BD8D-83C3-618E-9140-6D43F2F50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4AF37E7-07B3-2F5A-BA2A-C4161E162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C7103DB-BEB4-D2E9-7E0D-5FE320C4B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1BCA682-B499-6E95-35C7-570F22962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000EE07-DF69-CA37-F274-6CF9D9A1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7619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F4AEFB-058D-9289-9279-B4C03DCBC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D05AF4D-6F19-6EB2-4CAF-C924A6936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1D4ECAB-999A-6EB8-CB97-426000A5E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3A70404-DD63-9EDA-91F1-DF0062AC6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9F4B4D3-4042-2FDE-CE36-DB9AE34F8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11BB41E-A9BF-5D9D-E055-75D42289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4C0D7DF-C4AC-4ACF-1D8F-BBDB77DA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475113D-1CD6-1A36-AAC2-B763101C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2952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E796F1-CBD4-6504-537A-D5C990DC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C19C929-8864-7729-D7A1-97D97667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42FCF6B-71D2-46A8-2B26-F2C90D8C8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EE69F86-B6EC-462A-DE69-721957D5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177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D28418E-1685-D4AE-5586-E5D62F6E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249B42A-B8FD-363D-06DB-66AE7193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9222BFB-F402-FABC-A905-8344A7D6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457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891721-F624-EAE9-5DCE-E6085131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45141D6-4527-F086-E6B3-E2330C267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636B620-9FB3-46AC-B4BD-5AA34CE98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EFA5FC6-3D94-AC6D-5D06-4223E509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6353FC5-F49F-0F84-E818-510539D3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1ED9BE5-0AC6-B603-8006-F22604ED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504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808502-B5C7-921B-86F8-D6354DED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C50CCD1-F3AD-A4F0-0FA5-AB9BCD9C9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0FE9985-A464-BEF4-3DD7-822CC51DC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8B3349E-20BC-8CF0-FE58-E77EFA4D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66F6D50-A67C-606A-DD7A-139455BA7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67AE727-FC29-864F-61DF-9694A2A2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074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68FB3A-E802-90C8-A52E-EE310F02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73C0122-6DB4-863C-3B13-E59980883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3D06D76-B669-60F2-FBC6-6FC76E593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085873D-B400-3913-5D35-73EAABF60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F0F5488-B953-942B-B07A-2E1FC41D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393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BB379E8-B350-3D75-F393-8A179AF66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09AA737-583F-2C8A-90DF-AF5133E9E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4D93FA5-2556-3387-F15F-390B4C1E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9D7ACE1-F3A9-3363-62E5-E579CB7D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D2093CE-D6EB-2910-EB25-8637C4C3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516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9B0766-6A40-7FDD-B209-42A58211F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12777F0-6985-C204-08CF-2AC055EC0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EBEDF27-E86E-D966-B24A-6B3389B4F6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0C0CB-5BF5-42D9-8225-3799F4533136}" type="datetimeFigureOut">
              <a:rPr lang="he-IL" smtClean="0"/>
              <a:t>ל'/ניסן/תשפ"ד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F223A62-3673-0CAC-8939-988D5EB1B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3E87202-B3CD-BDF2-AA19-8F51D0C94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FF6BB-8FBA-4606-8F1F-ACDC1D51C5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49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870547C-1BC4-8B44-8F3C-44D685841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109" y="1122363"/>
            <a:ext cx="10751127" cy="2387600"/>
          </a:xfrm>
        </p:spPr>
        <p:txBody>
          <a:bodyPr>
            <a:normAutofit fontScale="90000"/>
          </a:bodyPr>
          <a:lstStyle/>
          <a:p>
            <a:r>
              <a:rPr lang="he-IL" dirty="0"/>
              <a:t>מבוא לפיסיקה </a:t>
            </a:r>
            <a:r>
              <a:rPr lang="he-IL" dirty="0" err="1"/>
              <a:t>ומל"מ</a:t>
            </a:r>
            <a:r>
              <a:rPr lang="he-IL" dirty="0"/>
              <a:t> – שיעור 4</a:t>
            </a:r>
            <a:br>
              <a:rPr lang="he-IL" dirty="0"/>
            </a:br>
            <a:br>
              <a:rPr lang="he-IL" dirty="0"/>
            </a:b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34F810D-1D47-2512-D438-7A826527D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826328" y="6147976"/>
            <a:ext cx="9144000" cy="1655762"/>
          </a:xfrm>
        </p:spPr>
        <p:txBody>
          <a:bodyPr/>
          <a:lstStyle/>
          <a:p>
            <a:r>
              <a:rPr lang="he-IL" dirty="0"/>
              <a:t> דבורה </a:t>
            </a:r>
            <a:r>
              <a:rPr lang="he-IL" dirty="0" err="1"/>
              <a:t>פריליך</a:t>
            </a:r>
            <a:endParaRPr lang="he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7092D5F-0218-69DB-715F-1DC7A5E28F95}"/>
              </a:ext>
            </a:extLst>
          </p:cNvPr>
          <p:cNvSpPr txBox="1"/>
          <p:nvPr/>
        </p:nvSpPr>
        <p:spPr>
          <a:xfrm>
            <a:off x="4078514" y="2279684"/>
            <a:ext cx="6057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>
                <a:cs typeface="+mj-cs"/>
              </a:rPr>
              <a:t>מעגלים פשוטים – המשך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>
                <a:cs typeface="+mj-cs"/>
              </a:rPr>
              <a:t>מעגלים מעורבים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>
                <a:cs typeface="+mj-cs"/>
              </a:rPr>
              <a:t>מעגלים עם כמה מקורות (רשתות חשמליות) </a:t>
            </a:r>
            <a:endParaRPr lang="en-IL" sz="2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123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0233"/>
            <a:ext cx="10515600" cy="4351338"/>
          </a:xfrm>
        </p:spPr>
        <p:txBody>
          <a:bodyPr/>
          <a:lstStyle/>
          <a:p>
            <a:r>
              <a:rPr lang="he-IL" dirty="0"/>
              <a:t>חוקי </a:t>
            </a:r>
            <a:r>
              <a:rPr lang="he-IL" dirty="0" err="1"/>
              <a:t>קירכהוף</a:t>
            </a:r>
            <a:endParaRPr lang="he-IL" dirty="0"/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e-IL" sz="7200" dirty="0"/>
              <a:t>מעגלים פשוטים - המשך</a:t>
            </a:r>
            <a:endParaRPr lang="en-IL" sz="7200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923880"/>
            <a:ext cx="12192000" cy="84693"/>
          </a:xfrm>
          <a:prstGeom prst="rect">
            <a:avLst/>
          </a:prstGeom>
          <a:solidFill>
            <a:srgbClr val="FEF202"/>
          </a:solidFill>
          <a:ln>
            <a:solidFill>
              <a:srgbClr val="FEF2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805344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9186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חוק המתחים / </a:t>
            </a:r>
            <a:r>
              <a:rPr lang="en-US" dirty="0"/>
              <a:t>KVL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סכום המתחים בחוג סגור שווה 0. </a:t>
            </a:r>
          </a:p>
          <a:p>
            <a:pPr marL="0" indent="0">
              <a:buNone/>
            </a:pPr>
            <a:endParaRPr lang="he-IL" sz="1600" dirty="0"/>
          </a:p>
          <a:p>
            <a:pPr marL="0" indent="0">
              <a:buNone/>
            </a:pPr>
            <a:r>
              <a:rPr lang="he-IL" dirty="0"/>
              <a:t>מזה נובע שבכל חוג סגור הסכום של מקורות המתח שווה לסכום של מפלי המתח באותו החוג.</a:t>
            </a:r>
          </a:p>
          <a:p>
            <a:r>
              <a:rPr lang="he-IL" dirty="0"/>
              <a:t>דוגמא:</a:t>
            </a:r>
          </a:p>
          <a:p>
            <a:endParaRPr lang="he-IL" dirty="0"/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חוקי </a:t>
            </a:r>
            <a:r>
              <a:rPr lang="he-IL" dirty="0" err="1"/>
              <a:t>קירכהוף</a:t>
            </a:r>
            <a:endParaRPr lang="en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EA082793-7A24-848F-9357-A938D7A1E0F9}"/>
              </a:ext>
            </a:extLst>
          </p:cNvPr>
          <p:cNvSpPr txBox="1"/>
          <p:nvPr/>
        </p:nvSpPr>
        <p:spPr>
          <a:xfrm>
            <a:off x="6629930" y="1560467"/>
            <a:ext cx="1487978" cy="584269"/>
          </a:xfrm>
          <a:prstGeom prst="wedgeEllipseCallout">
            <a:avLst>
              <a:gd name="adj1" fmla="val 50117"/>
              <a:gd name="adj2" fmla="val 55386"/>
            </a:avLst>
          </a:prstGeom>
          <a:noFill/>
          <a:ln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r>
              <a:rPr lang="he-IL" sz="1050" dirty="0"/>
              <a:t>מתבסס על חוק שימור האנרגיה. </a:t>
            </a:r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FCB9F8FF-B711-9D4D-D3A3-A5E54B9861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60"/>
          <a:stretch/>
        </p:blipFill>
        <p:spPr>
          <a:xfrm>
            <a:off x="8012142" y="4276540"/>
            <a:ext cx="1960534" cy="1632849"/>
          </a:xfrm>
          <a:prstGeom prst="rect">
            <a:avLst/>
          </a:prstGeom>
        </p:spPr>
      </p:pic>
      <p:sp>
        <p:nvSpPr>
          <p:cNvPr id="8" name="חץ למטה 7"/>
          <p:cNvSpPr/>
          <p:nvPr/>
        </p:nvSpPr>
        <p:spPr>
          <a:xfrm>
            <a:off x="7356763" y="2842954"/>
            <a:ext cx="290945" cy="399466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4700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חוק הזרמים / חוק הצומת / </a:t>
            </a:r>
            <a:r>
              <a:rPr lang="en-US" dirty="0"/>
              <a:t>KCL</a:t>
            </a: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he-IL" dirty="0">
                <a:solidFill>
                  <a:srgbClr val="202122"/>
                </a:solidFill>
                <a:latin typeface="Arial" panose="020B0604020202020204" pitchFamily="34" charset="0"/>
              </a:rPr>
              <a:t>סכום הזרמים בצומת שווה 0. </a:t>
            </a:r>
          </a:p>
          <a:p>
            <a:pPr marL="0" indent="0">
              <a:buNone/>
            </a:pPr>
            <a:endParaRPr lang="he-IL" sz="16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he-IL" dirty="0">
                <a:solidFill>
                  <a:srgbClr val="202122"/>
                </a:solidFill>
                <a:latin typeface="Arial" panose="020B0604020202020204" pitchFamily="34" charset="0"/>
              </a:rPr>
              <a:t>מזה נובע שסכום הזרמים הנכנסים לצומת שווה לסכום הזרמים היוצאים   ממנה.</a:t>
            </a:r>
            <a:endParaRPr lang="he-IL" dirty="0"/>
          </a:p>
          <a:p>
            <a:r>
              <a:rPr lang="he-IL" dirty="0"/>
              <a:t>דוגמא: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חוקי </a:t>
            </a:r>
            <a:r>
              <a:rPr lang="he-IL" dirty="0" err="1"/>
              <a:t>קירכהוף</a:t>
            </a:r>
            <a:endParaRPr lang="en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BD0A36A-6FFA-EC42-366C-9B9EF04C83B0}"/>
              </a:ext>
            </a:extLst>
          </p:cNvPr>
          <p:cNvSpPr txBox="1"/>
          <p:nvPr/>
        </p:nvSpPr>
        <p:spPr>
          <a:xfrm>
            <a:off x="5012575" y="1509380"/>
            <a:ext cx="1487978" cy="584269"/>
          </a:xfrm>
          <a:prstGeom prst="wedgeEllipseCallout">
            <a:avLst>
              <a:gd name="adj1" fmla="val 50117"/>
              <a:gd name="adj2" fmla="val 55386"/>
            </a:avLst>
          </a:prstGeom>
          <a:noFill/>
          <a:ln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r>
              <a:rPr lang="he-IL" sz="1050" dirty="0"/>
              <a:t>מתבסס על חוק שימור המטען. </a:t>
            </a: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235EADEB-720D-77EC-6BBE-26BBD14A4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408" y="4172638"/>
            <a:ext cx="1535083" cy="1490972"/>
          </a:xfrm>
          <a:prstGeom prst="rect">
            <a:avLst/>
          </a:prstGeom>
        </p:spPr>
      </p:pic>
      <p:sp>
        <p:nvSpPr>
          <p:cNvPr id="2" name="חץ למטה 1"/>
          <p:cNvSpPr/>
          <p:nvPr/>
        </p:nvSpPr>
        <p:spPr>
          <a:xfrm>
            <a:off x="7356763" y="2842954"/>
            <a:ext cx="290945" cy="399466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0068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768"/>
            <a:ext cx="10515600" cy="4351338"/>
          </a:xfrm>
        </p:spPr>
        <p:txBody>
          <a:bodyPr/>
          <a:lstStyle/>
          <a:p>
            <a:r>
              <a:rPr lang="he-IL" dirty="0"/>
              <a:t>פתרון מעגלים מעורבים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4194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e-IL" sz="7200" dirty="0"/>
              <a:t>מעגלים מעורבים</a:t>
            </a:r>
            <a:endParaRPr lang="en-IL" sz="7200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991610"/>
            <a:ext cx="12192000" cy="84693"/>
          </a:xfrm>
          <a:prstGeom prst="rect">
            <a:avLst/>
          </a:prstGeom>
          <a:solidFill>
            <a:srgbClr val="FEF202"/>
          </a:solidFill>
          <a:ln>
            <a:solidFill>
              <a:srgbClr val="FEF2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873074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8092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0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dirty="0"/>
              <a:t>שלבי הפתרון:</a:t>
            </a:r>
          </a:p>
          <a:p>
            <a:pPr marL="0" indent="0">
              <a:buNone/>
            </a:pPr>
            <a:r>
              <a:rPr lang="he-IL" b="1" dirty="0"/>
              <a:t>שלב 1:</a:t>
            </a:r>
            <a:r>
              <a:rPr lang="he-IL" dirty="0"/>
              <a:t> מציאת צמתים במעגל.</a:t>
            </a:r>
          </a:p>
          <a:p>
            <a:pPr marL="0" indent="0">
              <a:buNone/>
            </a:pPr>
            <a:r>
              <a:rPr lang="he-IL" dirty="0"/>
              <a:t>תזכורת - צומת: זוהי נקודה במעגל שמסתעפים ממנה מינימום 3 ענפים, כך שהזרם בצומת מתפצל. </a:t>
            </a: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פתרון מעגלים מעורבים</a:t>
            </a:r>
            <a:endParaRPr lang="en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7AA803D5-C2A1-8CD2-A21E-1B122585D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4" y="4717143"/>
            <a:ext cx="2380134" cy="179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68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30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dirty="0"/>
              <a:t>שלב 2:</a:t>
            </a:r>
            <a:r>
              <a:rPr lang="he-IL" dirty="0"/>
              <a:t> צמצום הנגדים במעגל למעגל עם התנגדות שקולה יחידה, תוך שמירת כל  השלבים בדרך.</a:t>
            </a:r>
          </a:p>
          <a:p>
            <a:pPr marL="0" indent="0">
              <a:buNone/>
            </a:pPr>
            <a:r>
              <a:rPr lang="he-IL" dirty="0"/>
              <a:t>דוגמא לצמצום נגדים: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</a:t>
            </a: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פתרון מעגלים מעורבים - המשך</a:t>
            </a:r>
            <a:endParaRPr lang="en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44006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30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dirty="0"/>
              <a:t>שלב 3:</a:t>
            </a:r>
            <a:r>
              <a:rPr lang="en-US" b="1" dirty="0"/>
              <a:t> </a:t>
            </a:r>
            <a:r>
              <a:rPr lang="he-IL" dirty="0"/>
              <a:t>מציאת הזרם הכללי ע"י חוק </a:t>
            </a:r>
            <a:r>
              <a:rPr lang="he-IL" dirty="0" err="1"/>
              <a:t>אוהם</a:t>
            </a:r>
            <a:r>
              <a:rPr lang="he-IL" dirty="0"/>
              <a:t>.</a:t>
            </a:r>
          </a:p>
          <a:p>
            <a:pPr marL="0" indent="0">
              <a:buNone/>
            </a:pPr>
            <a:r>
              <a:rPr lang="he-IL" b="1" dirty="0"/>
              <a:t>שלב 4:</a:t>
            </a:r>
            <a:r>
              <a:rPr lang="he-IL" dirty="0"/>
              <a:t> מציאת הזרמים והמתחים על כל נגד ע"י חזרה בסדר הפוך על כל השלבים שנעשו בשלב 1, בצמצום המעגל.</a:t>
            </a: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פתרון מעגלים מעורבים - המשך</a:t>
            </a:r>
            <a:endParaRPr lang="en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7669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539"/>
            <a:ext cx="10515600" cy="4351338"/>
          </a:xfrm>
        </p:spPr>
        <p:txBody>
          <a:bodyPr/>
          <a:lstStyle/>
          <a:p>
            <a:r>
              <a:rPr lang="he-IL" dirty="0"/>
              <a:t>דוגמא: </a:t>
            </a:r>
          </a:p>
          <a:p>
            <a:pPr marL="0" indent="0">
              <a:buNone/>
            </a:pPr>
            <a:r>
              <a:rPr lang="he-IL" dirty="0"/>
              <a:t>תרגיל 4 שאלה 7 סעיף א' </a:t>
            </a: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פתרון מעגלים מעורבים - המשך</a:t>
            </a:r>
            <a:endParaRPr lang="en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2500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תרגול</a:t>
            </a:r>
            <a:endParaRPr lang="en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2487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תרגול - המשך</a:t>
            </a:r>
            <a:endParaRPr lang="en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539"/>
            <a:ext cx="10515600" cy="4351338"/>
          </a:xfrm>
        </p:spPr>
        <p:txBody>
          <a:bodyPr/>
          <a:lstStyle/>
          <a:p>
            <a:r>
              <a:rPr lang="he-IL" dirty="0"/>
              <a:t>תרגול, כולל חומר חדש למבחן.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6213328B-EDA7-5399-6FEB-328FF901D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64619"/>
            <a:ext cx="5111908" cy="370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48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85167"/>
            <a:ext cx="10515600" cy="4351338"/>
          </a:xfrm>
        </p:spPr>
        <p:txBody>
          <a:bodyPr/>
          <a:lstStyle/>
          <a:p>
            <a:r>
              <a:rPr lang="he-IL" dirty="0"/>
              <a:t>מקור זרם</a:t>
            </a:r>
          </a:p>
          <a:p>
            <a:r>
              <a:rPr lang="he-IL" dirty="0"/>
              <a:t>מעגלים עם כמה מקורות</a:t>
            </a:r>
          </a:p>
          <a:p>
            <a:r>
              <a:rPr lang="he-IL" dirty="0"/>
              <a:t>שיטת סופר פוזיציה (הרכבה)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7" y="270933"/>
            <a:ext cx="12073467" cy="2029413"/>
          </a:xfrm>
        </p:spPr>
        <p:txBody>
          <a:bodyPr>
            <a:noAutofit/>
          </a:bodyPr>
          <a:lstStyle/>
          <a:p>
            <a:pPr algn="ctr"/>
            <a:r>
              <a:rPr lang="he-IL" sz="5400" dirty="0"/>
              <a:t>מעגלים עם כמה מקורות (רשתות חשמליות)</a:t>
            </a:r>
            <a:endParaRPr lang="en-IL" sz="5400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2550410"/>
            <a:ext cx="12192000" cy="84693"/>
          </a:xfrm>
          <a:prstGeom prst="rect">
            <a:avLst/>
          </a:prstGeom>
          <a:solidFill>
            <a:srgbClr val="FEF202"/>
          </a:solidFill>
          <a:ln>
            <a:solidFill>
              <a:srgbClr val="FEF2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2431874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7701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מקור זרם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539"/>
            <a:ext cx="10515600" cy="4351338"/>
          </a:xfrm>
        </p:spPr>
        <p:txBody>
          <a:bodyPr/>
          <a:lstStyle/>
          <a:p>
            <a:r>
              <a:rPr lang="he-IL" dirty="0"/>
              <a:t>הגדרה: מקור זרם, בניגוד למקור מתח (סוללה) שמספק מתח קבוע, מקור זרם הינו מקור שמספק זרם קבוע ללא תלות במתח על הדקי המקור.</a:t>
            </a:r>
          </a:p>
          <a:p>
            <a:r>
              <a:rPr lang="he-IL" dirty="0"/>
              <a:t>מקור זרם הוא מעגל בפני עצמו שמוזן ממתח, אבל כאן נתייחס אליו כמקור אנרגיה.</a:t>
            </a:r>
          </a:p>
          <a:p>
            <a:r>
              <a:rPr lang="he-IL" dirty="0"/>
              <a:t>סימון:</a:t>
            </a:r>
          </a:p>
          <a:p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28960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מעגלים עם כמה מקורות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538"/>
            <a:ext cx="10515600" cy="5475061"/>
          </a:xfrm>
        </p:spPr>
        <p:txBody>
          <a:bodyPr/>
          <a:lstStyle/>
          <a:p>
            <a:r>
              <a:rPr lang="he-IL" dirty="0"/>
              <a:t>דוגמא: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pPr marL="0" indent="0">
              <a:buNone/>
            </a:pPr>
            <a:endParaRPr lang="he-IL" dirty="0"/>
          </a:p>
          <a:p>
            <a:r>
              <a:rPr lang="he-IL" dirty="0"/>
              <a:t>במעגל עם כמה מקורות מתח לא ניתן למצוא התנגדות כללית.</a:t>
            </a:r>
          </a:p>
          <a:p>
            <a:r>
              <a:rPr lang="he-IL" dirty="0"/>
              <a:t>נראה 3 שיטות לפתירת מעגלים עם כמה מקורות מתח/זרם.</a:t>
            </a:r>
          </a:p>
          <a:p>
            <a:pPr marL="0" indent="0">
              <a:buNone/>
            </a:pPr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05513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שיטת סופר פוזיציה (הרכבה)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538"/>
            <a:ext cx="10515600" cy="4509099"/>
          </a:xfrm>
        </p:spPr>
        <p:txBody>
          <a:bodyPr>
            <a:normAutofit/>
          </a:bodyPr>
          <a:lstStyle/>
          <a:p>
            <a:r>
              <a:rPr lang="he-IL" sz="2600" dirty="0"/>
              <a:t>רקע: </a:t>
            </a:r>
          </a:p>
          <a:p>
            <a:pPr marL="0" indent="0">
              <a:buNone/>
            </a:pPr>
            <a:r>
              <a:rPr lang="he-IL" sz="2600" dirty="0"/>
              <a:t>שיטת ההרכבה משמשת במעגלים לינאריים. </a:t>
            </a:r>
          </a:p>
          <a:p>
            <a:pPr marL="0" indent="0">
              <a:buNone/>
            </a:pPr>
            <a:r>
              <a:rPr lang="he-IL" sz="2600" dirty="0"/>
              <a:t>מעגל לינארי הוא מעגל שמורכב מרכיבים לינאריים, רכיב לינארי הוא רכיב שכאשר נגדיל את הזרם דרכו פי ערך </a:t>
            </a:r>
            <a:r>
              <a:rPr lang="he-IL" sz="2600" dirty="0" err="1"/>
              <a:t>מסויים</a:t>
            </a:r>
            <a:r>
              <a:rPr lang="he-IL" sz="2600" dirty="0"/>
              <a:t>, גם המתח שלו יגדל פי אותו ערך. נגד הוא רכיב לינארי.</a:t>
            </a:r>
          </a:p>
          <a:p>
            <a:pPr marL="0" indent="0">
              <a:buNone/>
            </a:pPr>
            <a:r>
              <a:rPr lang="he-IL" sz="2600" dirty="0"/>
              <a:t>משפט ההרכבה קובע שהתגובה (זרם או מתח) במעגל לינארי המכיל מספר מקורות (מתח ו/או זרם) ניתנת לחישוב ע"י סכום כל התגובות למקור בודד אחד. כלומר, התוספת שמוסיף מקור מתח אחד שמחובר למעגל לא משנה את מה שגורם המקור השני למעגל.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72074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שיטת סופר פוזיציה (הרכבה) - המשך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09" y="1281338"/>
            <a:ext cx="11227479" cy="5348062"/>
          </a:xfrm>
        </p:spPr>
        <p:txBody>
          <a:bodyPr>
            <a:normAutofit/>
          </a:bodyPr>
          <a:lstStyle/>
          <a:p>
            <a:r>
              <a:rPr lang="he-IL" dirty="0"/>
              <a:t>שיטת סופרפוזיציה היא שיטה כללית שאינה מוגבלת לפתרון מעגלי רשת, אולם שיטה זו היא השיטה הארוכה ביותר לפתרון.</a:t>
            </a:r>
          </a:p>
          <a:p>
            <a:r>
              <a:rPr lang="he-IL" dirty="0"/>
              <a:t>שלבי השימוש בשיטה: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he-IL" dirty="0"/>
              <a:t>1. משרטטים מעגלי תמורה כמספר המקורות במעגל כך שבכל מעגל תמורה יהיה מקור אנרגיה אחד בלבד וכל השאר מושתקים באופן הבא:</a:t>
            </a:r>
          </a:p>
          <a:p>
            <a:pPr lvl="1"/>
            <a:r>
              <a:rPr lang="he-IL" dirty="0"/>
              <a:t>מקור מתח – הופך להיות קצר (מסמנים קו במקומו)</a:t>
            </a:r>
          </a:p>
          <a:p>
            <a:pPr lvl="1"/>
            <a:r>
              <a:rPr lang="he-IL" dirty="0"/>
              <a:t>מקור זרם – הופך להיות נתק (מוחקים את כל הענף שלו)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he-IL" dirty="0"/>
              <a:t>2. בכל מעגל תמורה מחשבים את זרמי הביניים (נקראים גם זרמי </a:t>
            </a:r>
            <a:r>
              <a:rPr lang="he-IL" dirty="0" err="1"/>
              <a:t>סופרפוזיצה</a:t>
            </a:r>
            <a:r>
              <a:rPr lang="he-IL" dirty="0"/>
              <a:t>).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he-IL" dirty="0"/>
              <a:t>3. עבור כל ענפי המעגל, מחברים את כל זרמי הביניים של אותו ענף ומקבלים את הזרם שלו.</a:t>
            </a:r>
          </a:p>
        </p:txBody>
      </p:sp>
    </p:spTree>
    <p:extLst>
      <p:ext uri="{BB962C8B-B14F-4D97-AF65-F5344CB8AC3E}">
        <p14:creationId xmlns:p14="http://schemas.microsoft.com/office/powerpoint/2010/main" val="1512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9"/>
            <a:ext cx="10515600" cy="1325563"/>
          </a:xfrm>
        </p:spPr>
        <p:txBody>
          <a:bodyPr/>
          <a:lstStyle/>
          <a:p>
            <a:r>
              <a:rPr lang="he-IL" dirty="0"/>
              <a:t>שיטת סופר פוזיציה (</a:t>
            </a:r>
            <a:r>
              <a:rPr lang="he-IL"/>
              <a:t>הרכבה) - המשך </a:t>
            </a:r>
            <a:endParaRPr lang="he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E38FAF8E-6782-E02A-64FF-8DC33E69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539"/>
            <a:ext cx="10515600" cy="4955108"/>
          </a:xfrm>
        </p:spPr>
        <p:txBody>
          <a:bodyPr/>
          <a:lstStyle/>
          <a:p>
            <a:r>
              <a:rPr lang="he-IL" dirty="0"/>
              <a:t>דוגמא: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5782771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3488</TotalTime>
  <Words>553</Words>
  <Application>Microsoft Office PowerPoint</Application>
  <PresentationFormat>מסך רחב</PresentationFormat>
  <Paragraphs>79</Paragraphs>
  <Slides>17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ערכת נושא Office</vt:lpstr>
      <vt:lpstr>מבוא לפיסיקה ומל"מ – שיעור 4  </vt:lpstr>
      <vt:lpstr>מעגלים פשוטים - המשך</vt:lpstr>
      <vt:lpstr>חוקי קירכהוף</vt:lpstr>
      <vt:lpstr>חוקי קירכהוף</vt:lpstr>
      <vt:lpstr>מעגלים מעורבים</vt:lpstr>
      <vt:lpstr>פתרון מעגלים מעורבים</vt:lpstr>
      <vt:lpstr>פתרון מעגלים מעורבים - המשך</vt:lpstr>
      <vt:lpstr>פתרון מעגלים מעורבים - המשך</vt:lpstr>
      <vt:lpstr>פתרון מעגלים מעורבים - המשך</vt:lpstr>
      <vt:lpstr>תרגול</vt:lpstr>
      <vt:lpstr>תרגול - המשך</vt:lpstr>
      <vt:lpstr>מעגלים עם כמה מקורות (רשתות חשמליות)</vt:lpstr>
      <vt:lpstr>מקור זרם</vt:lpstr>
      <vt:lpstr>מעגלים עם כמה מקורות</vt:lpstr>
      <vt:lpstr>שיטת סופר פוזיציה (הרכבה)</vt:lpstr>
      <vt:lpstr>שיטת סופר פוזיציה (הרכבה) - המשך</vt:lpstr>
      <vt:lpstr>שיטת סופר פוזיציה (הרכבה) - המשך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לפיסיקה ומל"מ – שיעור 6</dc:title>
  <dc:creator>היימשה</dc:creator>
  <cp:lastModifiedBy>דבורה פריד</cp:lastModifiedBy>
  <cp:revision>66</cp:revision>
  <dcterms:created xsi:type="dcterms:W3CDTF">2023-04-13T14:27:20Z</dcterms:created>
  <dcterms:modified xsi:type="dcterms:W3CDTF">2024-05-08T09:30:51Z</dcterms:modified>
</cp:coreProperties>
</file>